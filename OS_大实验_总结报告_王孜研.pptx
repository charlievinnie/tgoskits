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5" r:id="rId14"/>
    <p:sldId id="266" r:id="rId15"/>
  </p:sldIdLst>
  <p:sldSz cx="12191365" cy="6858000" type="screen4x3"/>
  <p:notesSz cx="6858000" cy="91440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365760"/>
            <a:ext cx="2468880" cy="24688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645920" cy="1645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03520"/>
            <a:ext cx="1371600" cy="1371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960120"/>
            <a:ext cx="2057400" cy="329184"/>
          </a:xfrm>
          <a:prstGeom prst="roundRect">
            <a:avLst>
              <a:gd name="adj" fmla="val 3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Operating System Big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508760"/>
            <a:ext cx="5669280" cy="1371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OS 大实验</a:t>
            </a:r>
            <a:br/>
            <a:r>
              <a:t>总结报告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3090672"/>
            <a:ext cx="457200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1500" b="0">
                <a:solidFill>
                  <a:srgbClr val="CBD5E1"/>
                </a:solidFill>
                <a:latin typeface="微软雅黑" panose="020B0503020204020204" charset="-122"/>
              </a:defRPr>
            </a:pPr>
            <a:r>
              <a:t>王孜研  ·  2025011828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529584"/>
            <a:ext cx="640080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tg-rcore · StarryOS · ArceOS · AI-driven OS development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234440"/>
            <a:ext cx="3840480" cy="3520440"/>
          </a:xfrm>
          <a:prstGeom prst="roundRect">
            <a:avLst>
              <a:gd name="adj" fmla="val 8000"/>
            </a:avLst>
          </a:prstGeom>
          <a:solidFill>
            <a:srgbClr val="02061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7808" y="1627632"/>
            <a:ext cx="310896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微软雅黑" panose="020B0503020204020204" charset="-122"/>
              </a:defRPr>
            </a:pPr>
            <a:r>
              <a:t>$ make biglab &amp;&amp; run starry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2212848"/>
            <a:ext cx="3108960" cy="1417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15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✓ SMP 多核支持</a:t>
            </a:r>
            <a:br/>
            <a:r>
              <a:t>✓ syscall 边界修复</a:t>
            </a:r>
            <a:br/>
            <a:r>
              <a:t>✓ Deepseek-TUI 运行</a:t>
            </a:r>
            <a:br/>
            <a:r>
              <a:t>✓ AI coding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4352" y="5394960"/>
            <a:ext cx="137160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87000" y="256032"/>
            <a:ext cx="23774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4472" y="256032"/>
            <a:ext cx="23774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81944" y="256032"/>
            <a:ext cx="237744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20040"/>
            <a:ext cx="786384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biglab A：tg-rcore 扩展与内核机制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786384"/>
            <a:ext cx="7955279" cy="25603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从课程小实验到小游戏支持、SMP 与内核态中断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502920"/>
            <a:ext cx="713232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t>02/13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6510528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6510528"/>
            <a:ext cx="1688123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435607"/>
            <a:ext cx="1197864" cy="37033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794967"/>
            <a:ext cx="1197864" cy="24688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95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课程小实验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13258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41448" y="1435607"/>
            <a:ext cx="1197864" cy="37033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微软雅黑" panose="020B0503020204020204" charset="-122"/>
              </a:defRPr>
            </a:pPr>
            <a:r>
              <a:t>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1448" y="1794967"/>
            <a:ext cx="1197864" cy="24688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95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小游戏支持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13258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7368" y="1435607"/>
            <a:ext cx="1197864" cy="37033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微软雅黑" panose="020B0503020204020204" charset="-122"/>
              </a:defRPr>
            </a:pPr>
            <a:r>
              <a:t>Doom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1794967"/>
            <a:ext cx="1197864" cy="24688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95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最终运行目标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" y="2505456"/>
            <a:ext cx="3429000" cy="29718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2468880"/>
            <a:ext cx="342900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2468880"/>
            <a:ext cx="73152" cy="2971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2596896"/>
            <a:ext cx="3099816" cy="27706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外设与图形能力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支持七巧板、贪吃蛇、Tetris、Pingpong、Breakout 等小游戏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实现键盘外设中断与键盘事件文件化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通过共享内存实现进程间通信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通过 MMIO 支持用户态绘制屏幕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12564" y="2505456"/>
            <a:ext cx="2971800" cy="29718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80560" y="2468880"/>
            <a:ext cx="297180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2468880"/>
            <a:ext cx="73152" cy="2971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2596896"/>
            <a:ext cx="2642616" cy="27706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SMP 多核支持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实现 tg-rcore 的 SMP 支持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测试中 AAAA / BBBB / CCCC 输出交叉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说明多核调度与执行正常工作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50124" y="2505456"/>
            <a:ext cx="2971800" cy="29718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18120" y="2468880"/>
            <a:ext cx="297180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8120" y="2468880"/>
            <a:ext cx="73152" cy="2971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9288" y="2596896"/>
            <a:ext cx="2642616" cy="27706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内核态中断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5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实现内核态中断支持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5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多个测例验证正确性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5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进程即使处于 syscall 中，也会被时钟中断打断，不能通过长 syscall 延长时间片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87000" y="256032"/>
            <a:ext cx="23774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4472" y="256032"/>
            <a:ext cx="23774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81944" y="256032"/>
            <a:ext cx="237744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20040"/>
            <a:ext cx="786384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biglab B 任务一：tg-arceos-tutorial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786384"/>
            <a:ext cx="7955279" cy="25603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五个小练习与对组件化 ArceOS 的理解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502920"/>
            <a:ext cx="713232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t>03/13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6510528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6510528"/>
            <a:ext cx="2532184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524" y="1335024"/>
            <a:ext cx="3017520" cy="438912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298448"/>
            <a:ext cx="30175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298448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1426464"/>
            <a:ext cx="2688336" cy="41879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任务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6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完成 tg-arceos-tutorial 的五个小练习。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1084" y="1335024"/>
            <a:ext cx="3246120" cy="438912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69080" y="1298448"/>
            <a:ext cx="32461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1298448"/>
            <a:ext cx="73152" cy="4389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1426464"/>
            <a:ext cx="2916936" cy="41879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完成情况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4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全部完成并写有总结报告：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4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printcolor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4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hashmap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4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altalloc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4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rename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4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sysmap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7244" y="1335024"/>
            <a:ext cx="3246120" cy="438912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35240" y="1298448"/>
            <a:ext cx="32461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1298448"/>
            <a:ext cx="73152" cy="4389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8" y="1426464"/>
            <a:ext cx="2916936" cy="41879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收获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4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重温 OS 所需的底层构件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4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在实践中理解 ArceOS 的“组件化”设计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4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为后续 StarryOS 相关任务打基础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87000" y="256032"/>
            <a:ext cx="23774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4472" y="256032"/>
            <a:ext cx="23774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81944" y="256032"/>
            <a:ext cx="237744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20040"/>
            <a:ext cx="786384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biglab B 任务二 实验一：AI 驱动迭代框架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786384"/>
            <a:ext cx="7955279" cy="25603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以 Kiro 为核心，组织 subagents、MCP tools 与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502920"/>
            <a:ext cx="713232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t>04/13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6510528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6510528"/>
            <a:ext cx="3376246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" y="1179576"/>
            <a:ext cx="2743200" cy="48920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274320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143000"/>
            <a:ext cx="73152" cy="4892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271016"/>
            <a:ext cx="2414016" cy="46908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目标与成果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5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任务：建立 AI 驱动的内核改进持续运行迭代框架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5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以 AI coding CLI Kiro 为框架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5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完成能加快 OS 开发速度的 subagents、mcp tools 和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43884" y="1179576"/>
            <a:ext cx="2788920" cy="150876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11880" y="1143000"/>
            <a:ext cx="27889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80" y="1143000"/>
            <a:ext cx="73152" cy="1508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13048" y="1271016"/>
            <a:ext cx="2459736" cy="1307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branch-commit-reviewer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8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commit 后进行 review：检查无关文件、commit message 一致性、bug 修复完整性。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43884" y="2916936"/>
            <a:ext cx="2788920" cy="16002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11880" y="2880360"/>
            <a:ext cx="27889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11880" y="2880360"/>
            <a:ext cx="73152" cy="1600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3048" y="3008376"/>
            <a:ext cx="2459736" cy="1399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linux-standard-checker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修复前回答 POSIX / Linux 标准问题；只允许查 man page、POSIX spec、Linux spec；证据不足则回答 inconclusive。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43884" y="4745736"/>
            <a:ext cx="2788920" cy="12344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11880" y="4709160"/>
            <a:ext cx="27889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11880" y="470916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3048" y="4837176"/>
            <a:ext cx="2459736" cy="10332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syscall-comparison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8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在 Linux 与 StarryOS 上分别记录 syscall 调用表，加速 debug。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07124" y="1179576"/>
            <a:ext cx="4434840" cy="48920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75120" y="1143000"/>
            <a:ext cx="443484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75120" y="1143000"/>
            <a:ext cx="73152" cy="4892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6288" y="1271016"/>
            <a:ext cx="4105655" cy="46908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Workflow：从测试到修复提交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8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用户输入需要测试的 syscall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8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agent 查找 man page 获取边界条件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8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调用 MCP tool 创建测试用例，并在 StarryOS / Linux 上分别运行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8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Starry 失败时，由 subagent 查找 POSIX 标正确认是否为实现问题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8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若确认为 bug，则新建 git 分支修复、rebase 到 upstream/dev，并提交 commit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8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design.md 规定原则：必须尊重 linux-standard-checker 的判断等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87000" y="256032"/>
            <a:ext cx="23774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4472" y="256032"/>
            <a:ext cx="23774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81944" y="256032"/>
            <a:ext cx="237744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20040"/>
            <a:ext cx="786384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biglab B 任务二 实验一：MCP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786384"/>
            <a:ext cx="7955279" cy="25603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为 agent 提供更安全、更稳定、更高效的 OS 开发工具链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502920"/>
            <a:ext cx="713232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t>05/13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6510528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6510528"/>
            <a:ext cx="4220307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524" y="1271016"/>
            <a:ext cx="3200400" cy="452628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234440"/>
            <a:ext cx="32004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234440"/>
            <a:ext cx="73152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1362456"/>
            <a:ext cx="2871216" cy="43251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git_guard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为 agent 提供隔离的 git 使用环境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运行 git 命令时检查当前分支是否以 agent- 开头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agent- 分支无条件允许；否则需要用户确认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在提速的同时避免 agent 破坏仓库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3964" y="1271016"/>
            <a:ext cx="3200400" cy="452628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51960" y="1234440"/>
            <a:ext cx="32004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234440"/>
            <a:ext cx="73152" cy="4526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1362456"/>
            <a:ext cx="2871216" cy="43251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create_tgoskits_test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基于已有框架生成 test-suit 测试用例骨架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创建 qemu*.toml、CMakeLists.txt 等文件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agent 只需专注于主程序逻辑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保证测试框架一致性，减少上下文浪费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04404" y="1271016"/>
            <a:ext cx="3200400" cy="452628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1234440"/>
            <a:ext cx="32004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234440"/>
            <a:ext cx="73152" cy="45262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1362456"/>
            <a:ext cx="2871216" cy="43251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run_tgoskits_test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在 docker / qemu 中以正确参数运行 Starry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传入指定测试用例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只捕获 root@starry 之后的输出返回给 agent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避免编译与启动日志污染上下文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87000" y="256032"/>
            <a:ext cx="23774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4472" y="256032"/>
            <a:ext cx="23774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81944" y="256032"/>
            <a:ext cx="237744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20040"/>
            <a:ext cx="786384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biglab B 任务二 实验二：syscall 修复与测例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786384"/>
            <a:ext cx="7955279" cy="25603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覆盖文件读写、内存访问、vectored I/O 与定时器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502920"/>
            <a:ext cx="713232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t>06/13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6510528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6510528"/>
            <a:ext cx="5064369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7804" y="1179576"/>
            <a:ext cx="4800600" cy="86868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143000"/>
            <a:ext cx="4800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14300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1271016"/>
            <a:ext cx="4471416" cy="6675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任务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8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基于 qemu，发现并修复 Starry 中 bugXXX，增加功能YYY，支持 2~3 组 syscall 相关源码级测例。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47004" y="1179576"/>
            <a:ext cx="5212080" cy="86868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5000" y="1143000"/>
            <a:ext cx="52120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1143000"/>
            <a:ext cx="73152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16168" y="1271016"/>
            <a:ext cx="4882896" cy="6675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完成情况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8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完成文件读写、内存访问、vectored I/O、定时器相关 syscall 的修复。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" y="2368296"/>
            <a:ext cx="2423160" cy="18288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2331720"/>
            <a:ext cx="2423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23317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2459736"/>
            <a:ext cx="2093976" cy="16276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文件读写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8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拒绝以写模式打开目录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8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修复 Pipe fd 错误码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8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lseek 负数偏移返回 EINVAL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9564" y="2368296"/>
            <a:ext cx="2423160" cy="18288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37560" y="2331720"/>
            <a:ext cx="2423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37560" y="2331720"/>
            <a:ext cx="73152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8728" y="2459736"/>
            <a:ext cx="2093976" cy="16276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内存访问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5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允许用户态零长 NULL 指针访问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21324" y="2368296"/>
            <a:ext cx="2423160" cy="18288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89320" y="2331720"/>
            <a:ext cx="2423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2331720"/>
            <a:ext cx="73152" cy="1828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2459736"/>
            <a:ext cx="2093976" cy="16276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Vectored I/O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9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writev / pwrite 在目录 fd 上返回 EBADF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9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preadv2 / pwritev2 允许 offset = -1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99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创建综合边缘测例集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73084" y="2368296"/>
            <a:ext cx="2423160" cy="18288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41080" y="2331720"/>
            <a:ext cx="2423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41080" y="233172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42248" y="2459736"/>
            <a:ext cx="2093976" cy="16276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定时器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从零实现 timer_create / settime / gettime / delete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支持循环定时器与 timer ID 信号信息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66444" y="4608576"/>
            <a:ext cx="9692640" cy="96012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234440" y="4572000"/>
            <a:ext cx="9692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34440" y="4572000"/>
            <a:ext cx="73152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35608" y="4700016"/>
            <a:ext cx="9363456" cy="7589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重点成果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4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新增 1500+ 行测试代码与 500+ 行内核代码，覆盖定时器 syscall 的诸多边界情况。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87000" y="256032"/>
            <a:ext cx="23774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4472" y="256032"/>
            <a:ext cx="23774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81944" y="256032"/>
            <a:ext cx="237744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20040"/>
            <a:ext cx="786384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biglab B 任务二 实验三：BusyBox 小应用支持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786384"/>
            <a:ext cx="7955279" cy="25603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通过修复系统调用与进程语义问题，使 6 个 BusyBox 测例通过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502920"/>
            <a:ext cx="713232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t>07/13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6510528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6510528"/>
            <a:ext cx="590843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7804" y="1179576"/>
            <a:ext cx="10378440" cy="86868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143000"/>
            <a:ext cx="103784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14300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1271016"/>
            <a:ext cx="10049256" cy="6675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任务与完成情况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5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基于 qemu，发现并修复 Starry 中 bugXXX，增加功能YYY，支持 1~2 个 Linux 小应用相关功能；最终修复一系列问题，使 6 个原先无法通过的 busybox 测例得以通过。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" y="2368296"/>
            <a:ext cx="3154680" cy="30632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331720"/>
            <a:ext cx="31546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331720"/>
            <a:ext cx="73152" cy="3063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459736"/>
            <a:ext cx="2825496" cy="2862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mkdir("/") errno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5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修复 mkdir("/") 对 errno 设置错误的问题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5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避免 busybox 将新目录创建误判为失败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5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busybox_mkdir、busybox_mv、busybox_rmdir 测例通过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92524" y="2368296"/>
            <a:ext cx="3154680" cy="30632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60520" y="2331720"/>
            <a:ext cx="31546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0520" y="2331720"/>
            <a:ext cx="73152" cy="3063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2459736"/>
            <a:ext cx="2825496" cy="2862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execve / vfork 语义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3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原 execve 会清空当前进程地址空间，导致共享地址空间的另一进程崩溃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3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实现真正 vfork 语义：子进程与父进程共享地址空间，并挂起父进程直到子进程 exit 或 execve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3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busybox-cpio、busybox-tar 测例通过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7244" y="2368296"/>
            <a:ext cx="3154680" cy="30632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35240" y="2331720"/>
            <a:ext cx="31546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5240" y="2331720"/>
            <a:ext cx="73152" cy="3063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36408" y="2459736"/>
            <a:ext cx="2825496" cy="2862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link() cache 指针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修复文件系统 link() 操作没有拷贝 cache 指针的问题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busybox-link 测例通过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87000" y="256032"/>
            <a:ext cx="23774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4472" y="256032"/>
            <a:ext cx="23774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81944" y="256032"/>
            <a:ext cx="237744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20040"/>
            <a:ext cx="786384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biglab B 任务二 实验四：Deepseek-TUI 支持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786384"/>
            <a:ext cx="7955279" cy="25603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让 Linux 大应用 / 功能在 StarryOS 中基本正常运行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502920"/>
            <a:ext cx="713232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t>08/13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6510528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6510528"/>
            <a:ext cx="6752492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7804" y="1088136"/>
            <a:ext cx="4709160" cy="19202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051560"/>
            <a:ext cx="4709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05156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1179576"/>
            <a:ext cx="4379976" cy="1719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最终效果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8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配置 API key 后，可在命令行运行 deepseek “Who are you?” 进行单轮对话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8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可输入 deepseek 进入 TUI 界面，进行多轮对话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8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能看到思考过程，并看到其创建 hello.py、在 Deepseek-TUI 内运行得到结果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47004" y="1088136"/>
            <a:ext cx="5166360" cy="19202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5000" y="1051560"/>
            <a:ext cx="51663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1051560"/>
            <a:ext cx="73152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16168" y="1179576"/>
            <a:ext cx="4837176" cy="1719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测试 Pipeline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基于已有 C / C++ 测试 pipeline，创建 Rust 测试 pipeline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可将 Rust 测试用例编译为二进制后注入 StarryOS 运行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" y="3374136"/>
            <a:ext cx="4709160" cy="20574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337560"/>
            <a:ext cx="4709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337560"/>
            <a:ext cx="73152" cy="2057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465576"/>
            <a:ext cx="4379976" cy="18562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TCP 传输修复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6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修复写入数据包后没有再次调用 poll_interfaces()，导致 TX 端无法传输到 RX 端的问题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6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真实网卡通常有独立线程不断 poll_interfaces()，因此该 bug 在真实环境中不易触发；测试中是单线程 smoltcp 事件循环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7004" y="3374136"/>
            <a:ext cx="5166360" cy="20574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3337560"/>
            <a:ext cx="51663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3337560"/>
            <a:ext cx="73152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16168" y="3465576"/>
            <a:ext cx="4837176" cy="18562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进程状态相关修复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5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修复 getsid / getpgid / getpriority 等系统调用对僵尸子进程返回“无此进程”的错误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15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新实现使用专门 map 管理僵尸子进程，避免退出子进程资源被过早回收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87000" y="256032"/>
            <a:ext cx="23774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4472" y="256032"/>
            <a:ext cx="23774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81944" y="256032"/>
            <a:ext cx="237744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20040"/>
            <a:ext cx="786384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biglab B 任务二 实验四：Deepseek-TUI 最后一个 UI 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786384"/>
            <a:ext cx="7955279" cy="25603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从输入延迟到事件丢失：定位 poll / UDP / signal / timer 的组合问题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502920"/>
            <a:ext cx="713232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t>09/13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6510528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6510528"/>
            <a:ext cx="7596553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7804" y="1088136"/>
            <a:ext cx="10378440" cy="86868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051560"/>
            <a:ext cx="103784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05156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1179576"/>
            <a:ext cx="10049256" cy="6675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现象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5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TUI 界面输入 123 时屏幕只显示 12；移动鼠标经过窗口或再按任意键后，才补显示 3。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" y="2276856"/>
            <a:ext cx="3337560" cy="20574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240280"/>
            <a:ext cx="3337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240280"/>
            <a:ext cx="73152" cy="2057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368296"/>
            <a:ext cx="3008376" cy="18562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前置修复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poll_read 在 tty 无输入时仍返回 POLLIN，导致等待输入忙等而非 block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未 connect 的 UDP socket 应可接收任意 sender 的输入，原 recv() 报错不正确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UDP 写入数据包后同样需要再次调用 poll_interfaces()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5404" y="2276856"/>
            <a:ext cx="3337560" cy="20574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43400" y="2240280"/>
            <a:ext cx="3337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240280"/>
            <a:ext cx="73152" cy="2057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2368296"/>
            <a:ext cx="3008376" cy="18562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Signal 语义修复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3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即使 signal 默认 handler 是 ignore，如果有线程 sigwaitinfo() 等待，或所有线程 block 该 signal，也不应丢弃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3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修复 SIGCHLD 的 si_uid、si_status 等字段填充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3004" y="2276856"/>
            <a:ext cx="3063240" cy="20574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01000" y="2240280"/>
            <a:ext cx="30632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1000" y="2240280"/>
            <a:ext cx="73152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2368296"/>
            <a:ext cx="2734056" cy="18562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最终根因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1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poll_event() 检查 interest 发现 NoEvent 后，会重新注册 waker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1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NoEvent 检查与 waker 重新注册之间存在窗口期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1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timer 事件若在窗口期到来会被丢弃，导致 TUI 定时刷新事件丢失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29284" y="4928616"/>
            <a:ext cx="9555480" cy="7772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97280" y="4892040"/>
            <a:ext cx="9555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892040"/>
            <a:ext cx="73152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98448" y="5020055"/>
            <a:ext cx="9226296" cy="576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最终效果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35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修复后 UI 刷新不再依赖鼠标 / 键盘输入事件触发，Deepseek-TUI 交互恢复正常。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87000" y="256032"/>
            <a:ext cx="23774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4472" y="256032"/>
            <a:ext cx="23774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81944" y="256032"/>
            <a:ext cx="237744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20040"/>
            <a:ext cx="786384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2800" b="1">
                <a:solidFill>
                  <a:srgbClr val="0B1222"/>
                </a:solidFill>
              </a:rPr>
              <a:t>Deepseek-TUI 对内核的重点需求</a:t>
            </a:r>
            <a:endParaRPr sz="2800" b="1">
              <a:solidFill>
                <a:srgbClr val="0B122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7784" y="786384"/>
            <a:ext cx="7955279" cy="25603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900" b="0">
                <a:solidFill>
                  <a:srgbClr val="475569"/>
                </a:solidFill>
              </a:rPr>
              <a:t>从异步运行时、终端交互、网络 I/O 到信号与子进程语义</a:t>
            </a:r>
            <a:endParaRPr sz="900" b="0">
              <a:solidFill>
                <a:srgbClr val="47556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71632" y="502920"/>
            <a:ext cx="713232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1300" b="0">
                <a:solidFill>
                  <a:srgbClr val="0B1222"/>
                </a:solidFill>
              </a:rPr>
              <a:t>10/13</a:t>
            </a:r>
            <a:endParaRPr sz="1300" b="0">
              <a:solidFill>
                <a:srgbClr val="0B122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0352" y="6510528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6510528"/>
            <a:ext cx="8440615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7804" y="1088136"/>
            <a:ext cx="4709160" cy="19202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051560"/>
            <a:ext cx="4709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05156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1179576"/>
            <a:ext cx="4379976" cy="1719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rPr sz="1550" b="1">
                <a:solidFill>
                  <a:srgbClr val="0F172A"/>
                </a:solidFill>
              </a:rPr>
              <a:t>tokio-runtime</a:t>
            </a:r>
            <a:endParaRPr sz="1550" b="1">
              <a:solidFill>
                <a:srgbClr val="0F172A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epoll 系列系统调用与 eventfd2：实现任务间唤醒</a:t>
            </a:r>
            <a:endParaRPr sz="1250" b="0">
              <a:solidFill>
                <a:srgbClr val="334155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timer 系列系统调用：支持定时任务切换</a:t>
            </a:r>
            <a:endParaRPr sz="1250" b="0">
              <a:solidFill>
                <a:srgbClr val="334155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futex 系列系统调用：管理 tokio worker 线程</a:t>
            </a:r>
            <a:endParaRPr sz="1250" b="0">
              <a:solidFill>
                <a:srgbClr val="334155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747004" y="1088136"/>
            <a:ext cx="5166360" cy="19202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5000" y="1051560"/>
            <a:ext cx="51663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1051560"/>
            <a:ext cx="73152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16168" y="1179576"/>
            <a:ext cx="4837176" cy="1719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rPr sz="1550" b="1">
                <a:solidFill>
                  <a:srgbClr val="0F172A"/>
                </a:solidFill>
              </a:rPr>
              <a:t>TUI 界面</a:t>
            </a:r>
            <a:endParaRPr sz="1550" b="1">
              <a:solidFill>
                <a:srgbClr val="0F172A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特殊 ioctl：设置 raw mode、获取终端窗口尺寸等</a:t>
            </a:r>
            <a:endParaRPr sz="1250" b="0">
              <a:solidFill>
                <a:srgbClr val="334155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epoll 监听键盘、鼠标等终端事件</a:t>
            </a:r>
            <a:endParaRPr sz="1250" b="0">
              <a:solidFill>
                <a:srgbClr val="334155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需要终端输入与 UI 刷新语义稳定</a:t>
            </a:r>
            <a:endParaRPr sz="1250" b="0">
              <a:solidFill>
                <a:srgbClr val="334155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17804" y="3374136"/>
            <a:ext cx="4709160" cy="20574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337560"/>
            <a:ext cx="4709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337560"/>
            <a:ext cx="73152" cy="2057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465576"/>
            <a:ext cx="4379976" cy="18562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rPr sz="1550" b="1">
                <a:solidFill>
                  <a:srgbClr val="0F172A"/>
                </a:solidFill>
              </a:rPr>
              <a:t>网络 I/O</a:t>
            </a:r>
            <a:endParaRPr sz="1550" b="1">
              <a:solidFill>
                <a:srgbClr val="0F172A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socket()、connect()、recvfrom() 等基础接口</a:t>
            </a:r>
            <a:endParaRPr sz="1250" b="0">
              <a:solidFill>
                <a:srgbClr val="334155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TCP / UDP 的收发、ready 状态与事件循环语义需要正确</a:t>
            </a:r>
            <a:endParaRPr sz="1250" b="0">
              <a:solidFill>
                <a:srgbClr val="334155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与异步运行时配合，避免忙等或事件丢失</a:t>
            </a:r>
            <a:endParaRPr sz="1250" b="0">
              <a:solidFill>
                <a:srgbClr val="334155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747004" y="3374136"/>
            <a:ext cx="5166360" cy="20574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3337560"/>
            <a:ext cx="51663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3337560"/>
            <a:ext cx="73152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16168" y="3465576"/>
            <a:ext cx="4837176" cy="18562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rPr sz="1550" b="1">
                <a:solidFill>
                  <a:srgbClr val="0F172A"/>
                </a:solidFill>
              </a:rPr>
              <a:t>信号与子进程</a:t>
            </a:r>
            <a:endParaRPr sz="1550" b="1">
              <a:solidFill>
                <a:srgbClr val="0F172A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rt_sigaction()、rt_sigreturn()、kill() 等信号接口</a:t>
            </a:r>
            <a:endParaRPr sz="1250" b="0">
              <a:solidFill>
                <a:srgbClr val="334155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调用工具时创建子进程</a:t>
            </a:r>
            <a:endParaRPr sz="1250" b="0">
              <a:solidFill>
                <a:srgbClr val="334155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正确处理子进程崩溃、超时和 SIGCHLD 信息</a:t>
            </a:r>
            <a:endParaRPr sz="1250" b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87000" y="256032"/>
            <a:ext cx="23774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4472" y="256032"/>
            <a:ext cx="23774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81944" y="256032"/>
            <a:ext cx="237744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20040"/>
            <a:ext cx="786384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2800" b="1">
                <a:solidFill>
                  <a:srgbClr val="0B1222"/>
                </a:solidFill>
              </a:rPr>
              <a:t>捡网球机器人比赛的 OS 需求思考</a:t>
            </a:r>
            <a:endParaRPr sz="2800" b="1">
              <a:solidFill>
                <a:srgbClr val="0B122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7784" y="786384"/>
            <a:ext cx="7955279" cy="25603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900" b="0">
                <a:solidFill>
                  <a:srgbClr val="475569"/>
                </a:solidFill>
              </a:rPr>
              <a:t>机器人控制对操作系统提出了外设、实时性、加速器与低开销要求</a:t>
            </a:r>
            <a:endParaRPr sz="900" b="0">
              <a:solidFill>
                <a:srgbClr val="47556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71632" y="502920"/>
            <a:ext cx="713232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rPr sz="1300" b="0">
                <a:solidFill>
                  <a:srgbClr val="0B1222"/>
                </a:solidFill>
              </a:rPr>
              <a:t>11/13</a:t>
            </a:r>
            <a:endParaRPr sz="1300" b="0">
              <a:solidFill>
                <a:srgbClr val="0B122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0352" y="6510528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6510528"/>
            <a:ext cx="9284676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7804" y="1088136"/>
            <a:ext cx="4709160" cy="19202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051560"/>
            <a:ext cx="47091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05156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1179576"/>
            <a:ext cx="4379976" cy="1719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rPr sz="1550" b="1">
                <a:solidFill>
                  <a:srgbClr val="0F172A"/>
                </a:solidFill>
              </a:rPr>
              <a:t>外设密集</a:t>
            </a:r>
            <a:endParaRPr sz="1550" b="1">
              <a:solidFill>
                <a:srgbClr val="0F172A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同时操作摄像头、机械臂、底盘、轮子等大量外设</a:t>
            </a:r>
            <a:endParaRPr sz="1250" b="0">
              <a:solidFill>
                <a:srgbClr val="334155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驱动最好易于增删，便于适配不同硬件组合</a:t>
            </a:r>
            <a:endParaRPr sz="1250" b="0">
              <a:solidFill>
                <a:srgbClr val="334155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747004" y="1088136"/>
            <a:ext cx="5166360" cy="19202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5000" y="1051560"/>
            <a:ext cx="51663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1051560"/>
            <a:ext cx="73152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16168" y="1179576"/>
            <a:ext cx="4837176" cy="17190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rPr sz="1550" b="1">
                <a:solidFill>
                  <a:srgbClr val="0F172A"/>
                </a:solidFill>
              </a:rPr>
              <a:t>实时控制</a:t>
            </a:r>
            <a:endParaRPr sz="1550" b="1">
              <a:solidFill>
                <a:srgbClr val="0F172A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外设输入需要高实时性</a:t>
            </a:r>
            <a:endParaRPr sz="1250" b="0">
              <a:solidFill>
                <a:srgbClr val="334155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控制闭环依赖精确时钟、定时器与 sleep()</a:t>
            </a:r>
            <a:endParaRPr sz="1250" b="0">
              <a:solidFill>
                <a:srgbClr val="334155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定时误差会直接影响机器人动作稳定性</a:t>
            </a:r>
            <a:endParaRPr sz="1250" b="0">
              <a:solidFill>
                <a:srgbClr val="334155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17804" y="3374136"/>
            <a:ext cx="4709160" cy="20574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337560"/>
            <a:ext cx="4709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337560"/>
            <a:ext cx="73152" cy="2057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465576"/>
            <a:ext cx="4379976" cy="9277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rPr sz="1550" b="1">
                <a:solidFill>
                  <a:srgbClr val="0F172A"/>
                </a:solidFill>
              </a:rPr>
              <a:t>AI 加速</a:t>
            </a:r>
            <a:endParaRPr sz="1550" b="1">
              <a:solidFill>
                <a:srgbClr val="0F172A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需要 NPU / TPU / GPU 等驱动支持</a:t>
            </a:r>
            <a:endParaRPr sz="1250" b="0">
              <a:solidFill>
                <a:srgbClr val="334155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用于运行视觉识别或策略小模型</a:t>
            </a:r>
            <a:endParaRPr sz="1250" b="0">
              <a:solidFill>
                <a:srgbClr val="334155"/>
              </a:solidFill>
            </a:endParaRPr>
          </a:p>
          <a:p>
            <a:pPr>
              <a:spcAft>
                <a:spcPts val="200"/>
              </a:spcAft>
            </a:pPr>
            <a:endParaRPr lang="en-US" sz="1250" b="0">
              <a:solidFill>
                <a:srgbClr val="334155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747004" y="3374136"/>
            <a:ext cx="5166360" cy="20574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3337560"/>
            <a:ext cx="51663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3337560"/>
            <a:ext cx="73152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16168" y="3465576"/>
            <a:ext cx="4837176" cy="18562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rPr sz="1550" b="1">
                <a:solidFill>
                  <a:srgbClr val="0F172A"/>
                </a:solidFill>
              </a:rPr>
              <a:t>低开销内核路径</a:t>
            </a:r>
            <a:endParaRPr sz="1550" b="1">
              <a:solidFill>
                <a:srgbClr val="0F172A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减少时钟、摄像头刷新、电机状态更新等中断开销</a:t>
            </a:r>
            <a:endParaRPr sz="1250" b="0">
              <a:solidFill>
                <a:srgbClr val="334155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降低访问外设驱动的 syscall 成本</a:t>
            </a:r>
            <a:endParaRPr sz="1250" b="0">
              <a:solidFill>
                <a:srgbClr val="334155"/>
              </a:solidFill>
            </a:endParaRP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334155"/>
                </a:solidFill>
              </a:rPr>
              <a:t>· 让更多时间用于计算与控制</a:t>
            </a:r>
            <a:endParaRPr sz="1250" b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87000" y="256032"/>
            <a:ext cx="23774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4472" y="256032"/>
            <a:ext cx="23774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81944" y="256032"/>
            <a:ext cx="237744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20040"/>
            <a:ext cx="786384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总结：AI 时代的 OS 实验设计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786384"/>
            <a:ext cx="7955279" cy="25603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95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从“写代码”转向“架构设计、协议清晰与并发理解”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502920"/>
            <a:ext cx="713232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r>
              <a:t>12/13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6510528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6510528"/>
            <a:ext cx="10128738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" y="1179576"/>
            <a:ext cx="4892040" cy="109728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143000"/>
            <a:ext cx="48920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14300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1271016"/>
            <a:ext cx="4562855" cy="8961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趋势判断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3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AI 能力快速发展，编写代码的时间成本降低，设计架构能力的重要性凸显。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21324" y="1179576"/>
            <a:ext cx="4892040" cy="109728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89320" y="1143000"/>
            <a:ext cx="48920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143000"/>
            <a:ext cx="73152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1271016"/>
            <a:ext cx="4562855" cy="8961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实验建议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3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一个可能较好的实验内容：完全从头搭建一个 OS，由学生自主设计 OS 架构与模块衔接。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" y="2688336"/>
            <a:ext cx="4892040" cy="141732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2651760"/>
            <a:ext cx="4892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2651760"/>
            <a:ext cx="73152" cy="1417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2779776"/>
            <a:ext cx="4562855" cy="12161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为什么现在可行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前 AI 时代，编写代码成本较高；随着 AI 能力发展，如果架构与 protocol 设计清晰，代码编写会变得相当迅速。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21324" y="2688336"/>
            <a:ext cx="4892040" cy="141732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89320" y="2651760"/>
            <a:ext cx="4892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89320" y="265176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2779776"/>
            <a:ext cx="4562855" cy="12161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学习价值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22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能加深对操作系统整体结构的理解，也考验学生对锁序、窗口期等概念的理解，提高并发编程能力。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166360"/>
            <a:ext cx="996696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t>关键词：架构设计 · protocol · 锁序 · 窗口期 · 并发编程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365760"/>
            <a:ext cx="2468880" cy="24688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645920" cy="1645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03520"/>
            <a:ext cx="1371600" cy="1371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10607040" cy="7315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谢谢老师！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10607040" cy="36576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微软雅黑" panose="020B0503020204020204" charset="-122"/>
              </a:defRPr>
            </a:pPr>
            <a:r>
              <a:t>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106070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OS 大实验总结报告 · 王孜研 · 2025011828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kxMDljOGRjZTliMWE1MmUzMTg0ODNlYzg2MzFhYTM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4790</Words>
  <Application>WPS 演示</Application>
  <PresentationFormat>On-screen Show (4:3)</PresentationFormat>
  <Paragraphs>303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大实验 总结报告（美化版）</dc:title>
  <dc:creator>Wang Yujin / ChatGPT</dc:creator>
  <dc:description>generated using python-pptx</dc:description>
  <cp:lastModifiedBy>王孜研(2025011828)</cp:lastModifiedBy>
  <cp:revision>2</cp:revision>
  <dcterms:created xsi:type="dcterms:W3CDTF">2013-01-27T09:14:00Z</dcterms:created>
  <dcterms:modified xsi:type="dcterms:W3CDTF">2026-05-29T17:23:44Z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8E1CB2FC7A0440A2B0365D913D245B77</vt:lpwstr>
  </property>
  <property fmtid="{D5CDD505-2E9C-101B-9397-08002B2CF9AE}" pid="3" name="KSOProductBuildVer">
    <vt:lpwstr>2052-11.1.0.12173</vt:lpwstr>
  </property>
</Properties>
</file>